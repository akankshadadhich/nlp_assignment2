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144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hJxzp+wnRYTwjoz/t/hPNaAfnZ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680830-3550-42F8-9944-B0C7B29410CA}">
  <a:tblStyle styleId="{E9680830-3550-42F8-9944-B0C7B29410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I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9" name="Google Shape;49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6279338a73_0_5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g26279338a73_0_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6279338a73_0_20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g26279338a73_0_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c73acb42e0_0_0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g2c73acb42e0_0_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67d6953fcb_0_0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267d6953fcb_0_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c7c24afa3b_0_1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c7c24afa3b_0_1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2c7c24afa3b_0_1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c7d65d224c_0_0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18" name="Google Shape;118;g2c7d65d224c_0_0:notes"/>
          <p:cNvSpPr/>
          <p:nvPr>
            <p:ph idx="2" type="sldImg"/>
          </p:nvPr>
        </p:nvSpPr>
        <p:spPr>
          <a:xfrm>
            <a:off x="125732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810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4pPr>
            <a:lvl5pPr indent="-3810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»"/>
              <a:defRPr/>
            </a:lvl5pPr>
            <a:lvl6pPr indent="-3810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»"/>
              <a:defRPr/>
            </a:lvl6pPr>
            <a:lvl7pPr indent="-3810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»"/>
              <a:defRPr/>
            </a:lvl7pPr>
            <a:lvl8pPr indent="-3810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»"/>
              <a:defRPr/>
            </a:lvl8pPr>
            <a:lvl9pPr indent="-3810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showMasterSp="0" type="tbl">
  <p:cSld name="TAB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26" name="Google Shape;26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27" name="Google Shape;27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28" name="Google Shape;28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FF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showMasterSp="0" type="vertTx">
  <p:cSld name="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showMasterSp="0" type="txAndObj">
  <p:cSld name="TEXT_AND_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FF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CC">
            <a:alpha val="0"/>
          </a:srgb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type="ctrTitle"/>
          </p:nvPr>
        </p:nvSpPr>
        <p:spPr>
          <a:xfrm>
            <a:off x="304800" y="762000"/>
            <a:ext cx="86868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/>
              <a:t> </a:t>
            </a:r>
            <a:r>
              <a:rPr b="1" lang="en-IN" sz="4400"/>
              <a:t>Assignment 2 - </a:t>
            </a:r>
            <a:r>
              <a:rPr lang="en-IN" sz="4400"/>
              <a:t>Implementation of Recurrent Perceptron</a:t>
            </a:r>
            <a:endParaRPr sz="4400"/>
          </a:p>
        </p:txBody>
      </p:sp>
      <p:sp>
        <p:nvSpPr>
          <p:cNvPr id="53" name="Google Shape;53;p1"/>
          <p:cNvSpPr txBox="1"/>
          <p:nvPr>
            <p:ph idx="1" type="subTitle"/>
          </p:nvPr>
        </p:nvSpPr>
        <p:spPr>
          <a:xfrm>
            <a:off x="115887" y="3276600"/>
            <a:ext cx="8610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8637"/>
              </a:buClr>
              <a:buSzPts val="2240"/>
              <a:buFont typeface="Arial"/>
              <a:buNone/>
            </a:pPr>
            <a:r>
              <a:rPr lang="en-IN" sz="3200"/>
              <a:t>Srihari K B, 23M0754</a:t>
            </a:r>
            <a:endParaRPr sz="32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8637"/>
              </a:buClr>
              <a:buSzPts val="2240"/>
              <a:buFont typeface="Arial"/>
              <a:buNone/>
            </a:pPr>
            <a:r>
              <a:rPr lang="en-IN" sz="3200"/>
              <a:t>Frederic J Maliakkal, 23M0745</a:t>
            </a:r>
            <a:endParaRPr sz="32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8637"/>
              </a:buClr>
              <a:buSzPts val="2240"/>
              <a:buFont typeface="Arial"/>
              <a:buNone/>
            </a:pPr>
            <a:r>
              <a:rPr lang="en-IN" sz="3200"/>
              <a:t>Shariq Faraz, 23M0779</a:t>
            </a:r>
            <a:endParaRPr sz="32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8637"/>
              </a:buClr>
              <a:buSzPts val="2240"/>
              <a:buFont typeface="Arial"/>
              <a:buNone/>
            </a:pPr>
            <a:r>
              <a:rPr lang="en-IN" sz="3200"/>
              <a:t>Akanksha Dadhich, 23M0830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ts val="2240"/>
              <a:buFont typeface="Arial"/>
              <a:buNone/>
            </a:pPr>
            <a:r>
              <a:rPr lang="en-IN" sz="3200"/>
              <a:t>31st March, 2024</a:t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6279338a73_0_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/>
              <a:t>Problem Statement</a:t>
            </a:r>
            <a:endParaRPr b="1"/>
          </a:p>
        </p:txBody>
      </p:sp>
      <p:sp>
        <p:nvSpPr>
          <p:cNvPr id="59" name="Google Shape;59;g26279338a73_0_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1" lang="en-IN">
                <a:solidFill>
                  <a:srgbClr val="009900"/>
                </a:solidFill>
              </a:rPr>
              <a:t>Input</a:t>
            </a:r>
            <a:r>
              <a:rPr lang="en-IN"/>
              <a:t>: POS-tagged input tokens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1" lang="en-IN">
                <a:solidFill>
                  <a:srgbClr val="009900"/>
                </a:solidFill>
              </a:rPr>
              <a:t>Output</a:t>
            </a:r>
            <a:r>
              <a:rPr lang="en-IN"/>
              <a:t>: Noun chunk labels on tokens .The beginning of the chunk will be labeled 1 and the rest of the words in the chunk will be labeled 0. All other words are labeled 1.</a:t>
            </a:r>
            <a:endParaRPr sz="23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6279338a73_0_20"/>
          <p:cNvSpPr txBox="1"/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/>
              <a:t>Implementation Details</a:t>
            </a:r>
            <a:endParaRPr b="1"/>
          </a:p>
        </p:txBody>
      </p:sp>
      <p:sp>
        <p:nvSpPr>
          <p:cNvPr id="65" name="Google Shape;65;g26279338a73_0_20"/>
          <p:cNvSpPr txBox="1"/>
          <p:nvPr>
            <p:ph idx="1" type="body"/>
          </p:nvPr>
        </p:nvSpPr>
        <p:spPr>
          <a:xfrm>
            <a:off x="457200" y="977400"/>
            <a:ext cx="82296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IN" sz="2600"/>
              <a:t>          A</a:t>
            </a:r>
            <a:r>
              <a:rPr lang="en-IN" sz="2600"/>
              <a:t>rchitecture			     		M</a:t>
            </a:r>
            <a:r>
              <a:rPr lang="en-IN" sz="2600"/>
              <a:t>odel Weights</a:t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IN" sz="2600"/>
              <a:t>	</a:t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IN" sz="2600"/>
              <a:t>	</a:t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aseline="-25000" sz="26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pic>
        <p:nvPicPr>
          <p:cNvPr id="66" name="Google Shape;66;g26279338a73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3249" y="1519850"/>
            <a:ext cx="4069576" cy="3052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7" name="Google Shape;67;g26279338a73_0_20"/>
          <p:cNvGraphicFramePr/>
          <p:nvPr/>
        </p:nvGraphicFramePr>
        <p:xfrm>
          <a:off x="5566900" y="154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{E9680830-3550-42F8-9944-B0C7B29410CA}</a:tableStyleId>
              </a:tblPr>
              <a:tblGrid>
                <a:gridCol w="1559950"/>
                <a:gridCol w="1559950"/>
              </a:tblGrid>
              <a:tr h="362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900"/>
                        <a:t>Weight</a:t>
                      </a:r>
                      <a:endParaRPr b="1" sz="1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900"/>
                        <a:t>Value</a:t>
                      </a:r>
                      <a:endParaRPr b="1" sz="1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1"/>
                    </a:solidFill>
                  </a:tcPr>
                </a:tc>
              </a:tr>
              <a:tr h="4027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Θ</a:t>
                      </a:r>
                      <a:endParaRPr b="1" sz="20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-1.13182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</a:tr>
              <a:tr h="4027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W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-0.840382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</a:tr>
              <a:tr h="4027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V_HAT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2.8506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</a:tr>
              <a:tr h="4027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V_OT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-0.659793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</a:tr>
              <a:tr h="4027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V_NN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-1.52165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</a:tr>
              <a:tr h="4027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V_JJ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-1.33765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</a:tr>
              <a:tr h="4027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V_DT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2.43404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</a:tr>
              <a:tr h="4027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W_OT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-1.99494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</a:tr>
              <a:tr h="4027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W_NN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1.02471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</a:tr>
              <a:tr h="4027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W_JJ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-1.32869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</a:tr>
              <a:tr h="4027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W_DT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600">
                          <a:solidFill>
                            <a:schemeClr val="dk1"/>
                          </a:solidFill>
                        </a:rPr>
                        <a:t>1.83249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/>
                </a:tc>
              </a:tr>
            </a:tbl>
          </a:graphicData>
        </a:graphic>
      </p:graphicFrame>
      <p:sp>
        <p:nvSpPr>
          <p:cNvPr id="68" name="Google Shape;68;g26279338a73_0_20"/>
          <p:cNvSpPr txBox="1"/>
          <p:nvPr>
            <p:ph idx="1" type="body"/>
          </p:nvPr>
        </p:nvSpPr>
        <p:spPr>
          <a:xfrm>
            <a:off x="740150" y="4669450"/>
            <a:ext cx="4556700" cy="19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IN" sz="1800"/>
              <a:t>Notations:</a:t>
            </a:r>
            <a:endParaRPr b="1" sz="1800"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lang="en-IN" sz="1800"/>
              <a:t>x_t-1 : One hot vector of previous word</a:t>
            </a:r>
            <a:endParaRPr b="1" sz="1800"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lang="en-IN" sz="1800"/>
              <a:t>x_t : One hot vector of current word</a:t>
            </a:r>
            <a:endParaRPr sz="1800"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lang="en-IN" sz="1800"/>
              <a:t>h_t-1: Feedback from previous state</a:t>
            </a:r>
            <a:endParaRPr sz="1800"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lang="en-IN" sz="1800"/>
              <a:t>h_t: Feedback to next state</a:t>
            </a:r>
            <a:endParaRPr sz="1800"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/>
              <a:t>y_t: Output of current state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/>
              <a:t>Overall performance</a:t>
            </a:r>
            <a:endParaRPr b="1"/>
          </a:p>
        </p:txBody>
      </p:sp>
      <p:sp>
        <p:nvSpPr>
          <p:cNvPr id="74" name="Google Shape;74;p3"/>
          <p:cNvSpPr txBox="1"/>
          <p:nvPr>
            <p:ph idx="1" type="body"/>
          </p:nvPr>
        </p:nvSpPr>
        <p:spPr>
          <a:xfrm>
            <a:off x="457200" y="1288600"/>
            <a:ext cx="8229600" cy="53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Accuracy (Total and class-wise)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Precision, recall and F1 score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5-fold cross validation </a:t>
            </a:r>
            <a:r>
              <a:rPr lang="en-IN" sz="2000"/>
              <a:t>(Metric: Accuracy)</a:t>
            </a:r>
            <a:endParaRPr sz="1700"/>
          </a:p>
        </p:txBody>
      </p:sp>
      <p:graphicFrame>
        <p:nvGraphicFramePr>
          <p:cNvPr id="75" name="Google Shape;75;p3"/>
          <p:cNvGraphicFramePr/>
          <p:nvPr/>
        </p:nvGraphicFramePr>
        <p:xfrm>
          <a:off x="952500" y="3454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{E9680830-3550-42F8-9944-B0C7B29410CA}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469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Precision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Recall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F1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Accuracy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0.81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0.99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0.89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0.84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6" name="Google Shape;76;p3"/>
          <p:cNvGraphicFramePr/>
          <p:nvPr/>
        </p:nvGraphicFramePr>
        <p:xfrm>
          <a:off x="952500" y="511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{E9680830-3550-42F8-9944-B0C7B29410CA}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Fold 1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1800">
                          <a:solidFill>
                            <a:schemeClr val="dk1"/>
                          </a:solidFill>
                        </a:rPr>
                        <a:t>Fold 2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1800">
                          <a:solidFill>
                            <a:schemeClr val="dk1"/>
                          </a:solidFill>
                        </a:rPr>
                        <a:t>Fold 3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1800">
                          <a:solidFill>
                            <a:schemeClr val="dk1"/>
                          </a:solidFill>
                        </a:rPr>
                        <a:t>Fold 4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1800">
                          <a:solidFill>
                            <a:schemeClr val="dk1"/>
                          </a:solidFill>
                        </a:rPr>
                        <a:t>Fold 5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Train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0.86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0.88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0.88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0.87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0.86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Validation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0.89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0.82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0.84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0.88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0.89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" name="Google Shape;77;p3"/>
          <p:cNvGraphicFramePr/>
          <p:nvPr/>
        </p:nvGraphicFramePr>
        <p:xfrm>
          <a:off x="952500" y="1797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{E9680830-3550-42F8-9944-B0C7B29410CA}</a:tableStyleId>
              </a:tblPr>
              <a:tblGrid>
                <a:gridCol w="1481700"/>
                <a:gridCol w="2137800"/>
                <a:gridCol w="2169050"/>
                <a:gridCol w="1450450"/>
              </a:tblGrid>
              <a:tr h="469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Class 0 </a:t>
                      </a:r>
                      <a:r>
                        <a:rPr lang="en-IN" sz="1800"/>
                        <a:t>(Negative)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Class 1 </a:t>
                      </a:r>
                      <a:r>
                        <a:rPr lang="en-IN" sz="1800"/>
                        <a:t>(Positive)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1900">
                          <a:solidFill>
                            <a:schemeClr val="dk1"/>
                          </a:solidFill>
                        </a:rPr>
                        <a:t>Total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24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1900">
                          <a:solidFill>
                            <a:schemeClr val="dk1"/>
                          </a:solidFill>
                        </a:rPr>
                        <a:t>Accuracy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0.56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0.993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/>
                        <a:t>0.84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c73acb42e0_0_0"/>
          <p:cNvSpPr txBox="1"/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/>
              <a:t>Language constraint table</a:t>
            </a:r>
            <a:endParaRPr b="1"/>
          </a:p>
        </p:txBody>
      </p:sp>
      <p:sp>
        <p:nvSpPr>
          <p:cNvPr id="83" name="Google Shape;83;g2c73acb42e0_0_0"/>
          <p:cNvSpPr txBox="1"/>
          <p:nvPr>
            <p:ph idx="1" type="body"/>
          </p:nvPr>
        </p:nvSpPr>
        <p:spPr>
          <a:xfrm>
            <a:off x="238430" y="5065975"/>
            <a:ext cx="4295400" cy="15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lang="en-IN" sz="1800"/>
              <a:t>Reason for constraint failure</a:t>
            </a:r>
            <a:r>
              <a:rPr b="1" lang="en-IN" sz="1800"/>
              <a:t>:</a:t>
            </a:r>
            <a:endParaRPr b="1" sz="1800"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lang="en-IN" sz="1800"/>
              <a:t>Wide Distribution of Pairs: For example, there are 46,937 pairs of (OT, DT), but only 66 pairs of (JJ, NN).</a:t>
            </a:r>
            <a:endParaRPr sz="1800"/>
          </a:p>
        </p:txBody>
      </p:sp>
      <p:graphicFrame>
        <p:nvGraphicFramePr>
          <p:cNvPr id="84" name="Google Shape;84;g2c73acb42e0_0_0"/>
          <p:cNvGraphicFramePr/>
          <p:nvPr/>
        </p:nvGraphicFramePr>
        <p:xfrm>
          <a:off x="1373238" y="1170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{E9680830-3550-42F8-9944-B0C7B29410CA}</a:tableStyleId>
              </a:tblPr>
              <a:tblGrid>
                <a:gridCol w="1938450"/>
                <a:gridCol w="1112600"/>
              </a:tblGrid>
              <a:tr h="39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/>
                        <a:t>Constraint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/>
                        <a:t>Validity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998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V_HAT + W_DT&gt; </a:t>
                      </a: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Θ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True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998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V_HAT + W_JJ &gt; </a:t>
                      </a: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Θ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True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998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V_HAT + W_NN &gt; </a:t>
                      </a: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Θ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True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998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V_HAT + W_OT &gt; </a:t>
                      </a: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Θ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True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998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W + V_DT + W_JJ &lt;</a:t>
                      </a: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Θ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False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</a:tr>
              <a:tr h="3998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W + V_DT + W_NN &lt;</a:t>
                      </a: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Θ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False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</a:tr>
              <a:tr h="3998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V_JJ + W_JJ </a:t>
                      </a: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&lt;</a:t>
                      </a: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Θ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True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998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V_JJ + W_NN &lt;</a:t>
                      </a: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Θ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False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" name="Google Shape;85;g2c73acb42e0_0_0"/>
          <p:cNvGraphicFramePr/>
          <p:nvPr/>
        </p:nvGraphicFramePr>
        <p:xfrm>
          <a:off x="4719713" y="1170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{E9680830-3550-42F8-9944-B0C7B29410CA}</a:tableStyleId>
              </a:tblPr>
              <a:tblGrid>
                <a:gridCol w="2025800"/>
                <a:gridCol w="1025250"/>
              </a:tblGrid>
              <a:tr h="39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/>
                        <a:t>Constraint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/>
                        <a:t>Validity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998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W + V_JJ + W_JJ &lt; </a:t>
                      </a: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Θ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True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998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W + V_JJ + W_NN &lt; </a:t>
                      </a: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Θ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True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998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V_NN + W_OT &gt; </a:t>
                      </a: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Θ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False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</a:tr>
              <a:tr h="3998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W + V_NN + W_OT &gt; </a:t>
                      </a: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Θ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False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</a:tr>
              <a:tr h="3998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W + V_OT + W_DT &gt; </a:t>
                      </a: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Θ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True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998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W + V_OT + W_JJ &gt; </a:t>
                      </a: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Θ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False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</a:tr>
              <a:tr h="3998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W + V_OT + W_NN &gt; </a:t>
                      </a: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Θ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True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99800">
                <a:tc>
                  <a:txBody>
                    <a:bodyPr/>
                    <a:lstStyle/>
                    <a:p>
                      <a:pPr indent="0" lvl="0" marL="114300" marR="11430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W + V_OT + W_OT &gt; </a:t>
                      </a:r>
                      <a:r>
                        <a:rPr b="1" lang="en-IN" sz="1200">
                          <a:solidFill>
                            <a:schemeClr val="dk1"/>
                          </a:solidFill>
                        </a:rPr>
                        <a:t>Θ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38100" marL="381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chemeClr val="dk1"/>
                          </a:solidFill>
                        </a:rPr>
                        <a:t>False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</a:tr>
            </a:tbl>
          </a:graphicData>
        </a:graphic>
      </p:graphicFrame>
      <p:pic>
        <p:nvPicPr>
          <p:cNvPr id="86" name="Google Shape;86;g2c73acb42e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0019" y="5202152"/>
            <a:ext cx="4295551" cy="1232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/>
              <a:t>Error Analysis</a:t>
            </a:r>
            <a:endParaRPr b="1"/>
          </a:p>
        </p:txBody>
      </p:sp>
      <p:sp>
        <p:nvSpPr>
          <p:cNvPr id="92" name="Google Shape;92;p6"/>
          <p:cNvSpPr txBox="1"/>
          <p:nvPr>
            <p:ph idx="1" type="body"/>
          </p:nvPr>
        </p:nvSpPr>
        <p:spPr>
          <a:xfrm>
            <a:off x="302025" y="1681500"/>
            <a:ext cx="3780600" cy="4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lang="en-IN" sz="2100"/>
              <a:t>Reasons for Error:</a:t>
            </a:r>
            <a:endParaRPr b="1" sz="2100"/>
          </a:p>
          <a:p>
            <a:pPr indent="-361950" lvl="0" marL="4572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en-IN" sz="2100"/>
              <a:t>Distribution of classes:  Positive class count is twice as much as negative class count.</a:t>
            </a:r>
            <a:endParaRPr sz="2100"/>
          </a:p>
          <a:p>
            <a:pPr indent="-361950" lvl="0" marL="457200" rtl="0" algn="just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IN" sz="2100"/>
              <a:t>Distribution of POS Tags:  46,937 pairs of (OT, DT), but only 66 pairs of (JJ, NN).</a:t>
            </a:r>
            <a:endParaRPr sz="2100"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IN" sz="2100"/>
              <a:t>Solutions:</a:t>
            </a:r>
            <a:endParaRPr b="1" sz="2100"/>
          </a:p>
          <a:p>
            <a:pPr indent="-361950" lvl="0" marL="457200" rtl="0" algn="just">
              <a:spcBef>
                <a:spcPts val="480"/>
              </a:spcBef>
              <a:spcAft>
                <a:spcPts val="0"/>
              </a:spcAft>
              <a:buSzPts val="2100"/>
              <a:buChar char="•"/>
            </a:pPr>
            <a:r>
              <a:rPr lang="en-IN" sz="2100"/>
              <a:t>Data Cleaning: Over sampling the minority classes and pairs.</a:t>
            </a:r>
            <a:endParaRPr sz="2100"/>
          </a:p>
        </p:txBody>
      </p:sp>
      <p:graphicFrame>
        <p:nvGraphicFramePr>
          <p:cNvPr id="93" name="Google Shape;93;p6"/>
          <p:cNvGraphicFramePr/>
          <p:nvPr/>
        </p:nvGraphicFramePr>
        <p:xfrm>
          <a:off x="4182875" y="168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{E9680830-3550-42F8-9944-B0C7B29410CA}</a:tableStyleId>
              </a:tblPr>
              <a:tblGrid>
                <a:gridCol w="1697475"/>
                <a:gridCol w="1556900"/>
                <a:gridCol w="1556875"/>
              </a:tblGrid>
              <a:tr h="59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/>
                        <a:t>Confusion Matrix for Test dataset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FF00"/>
                          </a:solidFill>
                        </a:rPr>
                        <a:t>Actual Positive 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FF00"/>
                          </a:solidFill>
                        </a:rPr>
                        <a:t>Actual Negative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4A86E8"/>
                    </a:solidFill>
                  </a:tcPr>
                </a:tc>
              </a:tr>
              <a:tr h="45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FF00"/>
                          </a:solidFill>
                        </a:rPr>
                        <a:t>Predicted </a:t>
                      </a:r>
                      <a:r>
                        <a:rPr lang="en-IN">
                          <a:solidFill>
                            <a:srgbClr val="FFFF00"/>
                          </a:solidFill>
                        </a:rPr>
                        <a:t>Positive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30034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7044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06666"/>
                    </a:solidFill>
                  </a:tcPr>
                </a:tc>
              </a:tr>
              <a:tr h="45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>
                          <a:solidFill>
                            <a:srgbClr val="FFFF00"/>
                          </a:solidFill>
                        </a:rPr>
                        <a:t>Predicted Negative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224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9133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" name="Google Shape;94;p6"/>
          <p:cNvGraphicFramePr/>
          <p:nvPr/>
        </p:nvGraphicFramePr>
        <p:xfrm>
          <a:off x="4182875" y="424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{E9680830-3550-42F8-9944-B0C7B29410CA}</a:tableStyleId>
              </a:tblPr>
              <a:tblGrid>
                <a:gridCol w="1697475"/>
                <a:gridCol w="1556900"/>
                <a:gridCol w="1556875"/>
              </a:tblGrid>
              <a:tr h="59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/>
                        <a:t>Dataset Distribution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FF00"/>
                          </a:solidFill>
                        </a:rPr>
                        <a:t>Positive 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FF00"/>
                          </a:solidFill>
                        </a:rPr>
                        <a:t>Negative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4A86E8"/>
                    </a:solidFill>
                  </a:tcPr>
                </a:tc>
              </a:tr>
              <a:tr h="45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FF00"/>
                          </a:solidFill>
                        </a:rPr>
                        <a:t>Train set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136976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66645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06666"/>
                    </a:solidFill>
                  </a:tcPr>
                </a:tc>
              </a:tr>
              <a:tr h="45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>
                          <a:solidFill>
                            <a:srgbClr val="FFFF00"/>
                          </a:solidFill>
                        </a:rPr>
                        <a:t>Test set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30258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16177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95" name="Google Shape;95;p6"/>
          <p:cNvSpPr txBox="1"/>
          <p:nvPr>
            <p:ph idx="1" type="body"/>
          </p:nvPr>
        </p:nvSpPr>
        <p:spPr>
          <a:xfrm>
            <a:off x="4182875" y="3305050"/>
            <a:ext cx="4811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IN" sz="2000"/>
              <a:t>Confusion Matrix for Test dataset</a:t>
            </a:r>
            <a:endParaRPr sz="2000"/>
          </a:p>
        </p:txBody>
      </p:sp>
      <p:sp>
        <p:nvSpPr>
          <p:cNvPr id="96" name="Google Shape;96;p6"/>
          <p:cNvSpPr txBox="1"/>
          <p:nvPr>
            <p:ph idx="1" type="body"/>
          </p:nvPr>
        </p:nvSpPr>
        <p:spPr>
          <a:xfrm>
            <a:off x="4182875" y="5819650"/>
            <a:ext cx="4811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IN" sz="2000"/>
              <a:t>Dataset Distribution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/>
              <a:t>Learnings</a:t>
            </a:r>
            <a:endParaRPr b="1"/>
          </a:p>
        </p:txBody>
      </p:sp>
      <p:sp>
        <p:nvSpPr>
          <p:cNvPr id="102" name="Google Shape;102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just">
              <a:spcBef>
                <a:spcPts val="48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BPTT Implementation:</a:t>
            </a:r>
            <a:r>
              <a:rPr lang="en-IN" sz="2200"/>
              <a:t> Successfully implemented Backpropagation Through Time (BPTT) from scratch.</a:t>
            </a:r>
            <a:endParaRPr sz="2200"/>
          </a:p>
          <a:p>
            <a:pPr indent="-368300" lvl="0" marL="457200" rtl="0" algn="just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Creative Input Approach:</a:t>
            </a:r>
            <a:r>
              <a:rPr lang="en-IN" sz="2200"/>
              <a:t> Used current and previous word as input, enhancing model performance.</a:t>
            </a:r>
            <a:endParaRPr sz="2200"/>
          </a:p>
          <a:p>
            <a:pPr indent="-368300" lvl="0" marL="457200" rtl="0" algn="just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RNN Power:</a:t>
            </a:r>
            <a:r>
              <a:rPr lang="en-IN" sz="2200"/>
              <a:t> Demonstrated the effectiveness of Recurrent Neural Networks (RNNs) in modeling sequential data.</a:t>
            </a:r>
            <a:endParaRPr sz="2200"/>
          </a:p>
          <a:p>
            <a:pPr indent="-368300" lvl="0" marL="457200" rtl="0" algn="just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Key Learnings:</a:t>
            </a:r>
            <a:r>
              <a:rPr lang="en-IN" sz="2200"/>
              <a:t> Gained insights into RNN architecture and training through hands-on implementation.</a:t>
            </a:r>
            <a:endParaRPr sz="2200"/>
          </a:p>
          <a:p>
            <a:pPr indent="-368300" lvl="0" marL="457200" rtl="0" algn="just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-IN" sz="2200"/>
              <a:t>Future Applications:</a:t>
            </a:r>
            <a:r>
              <a:rPr lang="en-IN" sz="2200"/>
              <a:t> Potential real-world applications of the techniques learned.</a:t>
            </a:r>
            <a:endParaRPr sz="2200"/>
          </a:p>
          <a:p>
            <a:pPr indent="-368300" lvl="0" marL="457200" rtl="0" algn="just">
              <a:spcBef>
                <a:spcPts val="1000"/>
              </a:spcBef>
              <a:spcAft>
                <a:spcPts val="1000"/>
              </a:spcAft>
              <a:buSzPts val="2200"/>
              <a:buChar char="•"/>
            </a:pPr>
            <a:r>
              <a:rPr b="1" lang="en-IN" sz="2200"/>
              <a:t>Conclusion:</a:t>
            </a:r>
            <a:r>
              <a:rPr lang="en-IN" sz="2200"/>
              <a:t> Emphasized the importance of experimentation and creativity in machine learning.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67d6953fcb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/>
              <a:t>Evaluation Scheme</a:t>
            </a:r>
            <a:endParaRPr b="1"/>
          </a:p>
        </p:txBody>
      </p:sp>
      <p:sp>
        <p:nvSpPr>
          <p:cNvPr id="108" name="Google Shape;108;g267d6953fcb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Correct implementation of BPTT from scratch: 10 marks (show the code parts that implement weight change rules)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Overall Performance: accuracy &gt;=90: 10 marks; 80-89: 9; 70-79: 8; 60-69: 7; 50-59: 40-49: 5; 30-39: 4. And so on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Error Analysis: 10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Inequality Table: 10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Demo: 10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c7c24afa3b_0_1"/>
          <p:cNvSpPr txBox="1"/>
          <p:nvPr>
            <p:ph idx="1" type="body"/>
          </p:nvPr>
        </p:nvSpPr>
        <p:spPr>
          <a:xfrm>
            <a:off x="304775" y="1525725"/>
            <a:ext cx="8229600" cy="485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IN" sz="1900"/>
              <a:t>Task </a:t>
            </a:r>
            <a:r>
              <a:rPr lang="en-IN" sz="1900"/>
              <a:t>- To extract relevant triples for a given Image (</a:t>
            </a:r>
            <a:r>
              <a:rPr i="1" lang="en-IN" sz="1900"/>
              <a:t>I</a:t>
            </a:r>
            <a:r>
              <a:rPr lang="en-IN" sz="1900"/>
              <a:t>) and Multiple Choice Question (</a:t>
            </a:r>
            <a:r>
              <a:rPr i="1" lang="en-IN" sz="1900"/>
              <a:t>Q</a:t>
            </a:r>
            <a:r>
              <a:rPr lang="en-IN" sz="1900"/>
              <a:t>) from various Knowledge graphs (e.g. Conceptnet, Wordnet, Wikidata, Babelnet) and compare their results.</a:t>
            </a:r>
            <a:endParaRPr sz="1900"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None/>
            </a:pPr>
            <a:r>
              <a:rPr lang="en-IN" sz="1900"/>
              <a:t>The key steps involved are as follows:</a:t>
            </a:r>
            <a:endParaRPr sz="1900"/>
          </a:p>
          <a:p>
            <a:pPr indent="-349250" lvl="0" marL="457200" rtl="0" algn="just">
              <a:spcBef>
                <a:spcPts val="480"/>
              </a:spcBef>
              <a:spcAft>
                <a:spcPts val="0"/>
              </a:spcAft>
              <a:buSzPts val="1900"/>
              <a:buChar char="●"/>
            </a:pPr>
            <a:r>
              <a:rPr b="1" lang="en-IN" sz="1900"/>
              <a:t>Textual Information Extraction</a:t>
            </a:r>
            <a:r>
              <a:rPr b="1" lang="en-IN" sz="1900"/>
              <a:t>: </a:t>
            </a:r>
            <a:r>
              <a:rPr lang="en-IN" sz="1900"/>
              <a:t>Applying triple extraction techniques to question text.</a:t>
            </a:r>
            <a:endParaRPr sz="1900"/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IN" sz="1900"/>
              <a:t>Visual Information Extraction</a:t>
            </a:r>
            <a:r>
              <a:rPr b="1" lang="en-IN" sz="1900"/>
              <a:t>: </a:t>
            </a:r>
            <a:r>
              <a:rPr lang="en-IN" sz="1900"/>
              <a:t>Apply triple extraction techniques to visual content.</a:t>
            </a:r>
            <a:endParaRPr sz="1900"/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IN" sz="1900"/>
              <a:t>Integration of Textual and Visual Triples</a:t>
            </a:r>
            <a:r>
              <a:rPr b="1" lang="en-IN" sz="1900"/>
              <a:t>: </a:t>
            </a:r>
            <a:r>
              <a:rPr lang="en-IN" sz="1900"/>
              <a:t>Combining extracted textual and visual triples.</a:t>
            </a:r>
            <a:endParaRPr sz="1900"/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IN" sz="1900"/>
              <a:t>Query Formulation</a:t>
            </a:r>
            <a:r>
              <a:rPr b="1" lang="en-IN" sz="1900"/>
              <a:t>: </a:t>
            </a:r>
            <a:r>
              <a:rPr lang="en-IN" sz="1900"/>
              <a:t>Formulating queries based on integrated triples and question text.</a:t>
            </a:r>
            <a:endParaRPr sz="1900"/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IN" sz="1900"/>
              <a:t>Answer Inference: </a:t>
            </a:r>
            <a:r>
              <a:rPr lang="en-IN" sz="1900"/>
              <a:t>Inferring</a:t>
            </a:r>
            <a:r>
              <a:rPr lang="en-IN" sz="1900"/>
              <a:t> answers by integrated triples. </a:t>
            </a:r>
            <a:r>
              <a:rPr lang="en-IN" sz="1900"/>
              <a:t>Deriving the most appropriate answer based on extracted information.</a:t>
            </a:r>
            <a:endParaRPr sz="1900"/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IN" sz="1900"/>
              <a:t>Results:</a:t>
            </a:r>
            <a:r>
              <a:rPr lang="en-IN" sz="1900"/>
              <a:t> Comparing the results obtained over various Knowledge graphs.</a:t>
            </a:r>
            <a:endParaRPr sz="1900"/>
          </a:p>
        </p:txBody>
      </p:sp>
      <p:sp>
        <p:nvSpPr>
          <p:cNvPr id="115" name="Google Shape;115;g2c7c24afa3b_0_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/>
              <a:t>Project - Knowledge </a:t>
            </a:r>
            <a:r>
              <a:rPr b="1" lang="en-IN"/>
              <a:t>enhanced</a:t>
            </a:r>
            <a:r>
              <a:rPr b="1" lang="en-IN"/>
              <a:t> V</a:t>
            </a:r>
            <a:r>
              <a:rPr b="1" lang="en-IN"/>
              <a:t>isual Question Answering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c7d65d224c_0_0"/>
          <p:cNvSpPr txBox="1"/>
          <p:nvPr>
            <p:ph type="title"/>
          </p:nvPr>
        </p:nvSpPr>
        <p:spPr>
          <a:xfrm>
            <a:off x="457200" y="2857404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3800"/>
              <a:t>Thank you</a:t>
            </a: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Pushpak</dc:creator>
</cp:coreProperties>
</file>